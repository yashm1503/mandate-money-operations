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646bbf35d418c" /><Relationship Type="http://schemas.openxmlformats.org/officeDocument/2006/relationships/extended-properties" Target="/docProps/app.xml" Id="R646d881fcb404a79" /><Relationship Type="http://schemas.openxmlformats.org/officeDocument/2006/relationships/officeDocument" Target="/ppt/presentation.xml" Id="R400ccf9eb695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92b96d017f4e7a"/>
  </p:sldMasterIdLst>
  <p:notesMasterIdLst>
    <p:notesMasterId xmlns:r="http://schemas.openxmlformats.org/officeDocument/2006/relationships" r:id="R701422f417bd40bb"/>
  </p:notesMasterIdLst>
  <p:sldIdLst>
    <p:sldId xmlns:r="http://schemas.openxmlformats.org/officeDocument/2006/relationships" id="256" r:id="Rdbf3d76e2bb24066"/>
    <p:sldId xmlns:r="http://schemas.openxmlformats.org/officeDocument/2006/relationships" id="257" r:id="Rd5d02c064a544c6f"/>
    <p:sldId xmlns:r="http://schemas.openxmlformats.org/officeDocument/2006/relationships" id="258" r:id="R1e4f836460754303"/>
    <p:sldId xmlns:r="http://schemas.openxmlformats.org/officeDocument/2006/relationships" id="259" r:id="Red7af30039f54b66"/>
    <p:sldId xmlns:r="http://schemas.openxmlformats.org/officeDocument/2006/relationships" id="260" r:id="R0d7b6a1ba5d046d7"/>
    <p:sldId xmlns:r="http://schemas.openxmlformats.org/officeDocument/2006/relationships" id="261" r:id="R2763a27f8ce34d17"/>
    <p:sldId xmlns:r="http://schemas.openxmlformats.org/officeDocument/2006/relationships" id="262" r:id="R73c29b8f0f284bb7"/>
    <p:sldId xmlns:r="http://schemas.openxmlformats.org/officeDocument/2006/relationships" id="263" r:id="R26b4c5ba94cb4e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21d08a49834939" /><Relationship Type="http://schemas.openxmlformats.org/officeDocument/2006/relationships/slideMaster" Target="/ppt/slideMasters/slideMaster1.xml" Id="Rd992b96d017f4e7a" /><Relationship Type="http://schemas.openxmlformats.org/officeDocument/2006/relationships/notesMaster" Target="/ppt/notesMasters/notesMaster1.xml" Id="R701422f417bd40bb" /><Relationship Type="http://schemas.openxmlformats.org/officeDocument/2006/relationships/presProps" Target="/ppt/presProps.xml" Id="R033fc9c24942499f" /><Relationship Type="http://schemas.openxmlformats.org/officeDocument/2006/relationships/viewProps" Target="/ppt/viewProps.xml" Id="Rebdb9f62978d4455" /><Relationship Type="http://schemas.openxmlformats.org/officeDocument/2006/relationships/tableStyles" Target="/ppt/tableStyles.xml" Id="Rf9c011df8665458b" /><Relationship Type="http://schemas.openxmlformats.org/officeDocument/2006/relationships/slide" Target="/ppt/slides/slide1.xml" Id="Rdbf3d76e2bb24066" /><Relationship Type="http://schemas.openxmlformats.org/officeDocument/2006/relationships/slide" Target="/ppt/slides/slide2.xml" Id="Rd5d02c064a544c6f" /><Relationship Type="http://schemas.openxmlformats.org/officeDocument/2006/relationships/slide" Target="/ppt/slides/slide3.xml" Id="R1e4f836460754303" /><Relationship Type="http://schemas.openxmlformats.org/officeDocument/2006/relationships/slide" Target="/ppt/slides/slide4.xml" Id="Red7af30039f54b66" /><Relationship Type="http://schemas.openxmlformats.org/officeDocument/2006/relationships/slide" Target="/ppt/slides/slide5.xml" Id="R0d7b6a1ba5d046d7" /><Relationship Type="http://schemas.openxmlformats.org/officeDocument/2006/relationships/slide" Target="/ppt/slides/slide6.xml" Id="R2763a27f8ce34d17" /><Relationship Type="http://schemas.openxmlformats.org/officeDocument/2006/relationships/slide" Target="/ppt/slides/slide7.xml" Id="R73c29b8f0f284bb7" /><Relationship Type="http://schemas.openxmlformats.org/officeDocument/2006/relationships/slide" Target="/ppt/slides/slide8.xml" Id="R26b4c5ba94cb4e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911265f46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c76a246624d5a" /><Relationship Type="http://schemas.openxmlformats.org/officeDocument/2006/relationships/notesMaster" Target="/ppt/notesMasters/notesMaster1.xml" Id="R39b54f02d088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c717de51774e76" /><Relationship Type="http://schemas.openxmlformats.org/officeDocument/2006/relationships/notesMaster" Target="/ppt/notesMasters/notesMaster1.xml" Id="R4a72add87193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db8f988c649fa" /><Relationship Type="http://schemas.openxmlformats.org/officeDocument/2006/relationships/notesMaster" Target="/ppt/notesMasters/notesMaster1.xml" Id="Rae1591a17001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535e09e014fe9" /><Relationship Type="http://schemas.openxmlformats.org/officeDocument/2006/relationships/notesMaster" Target="/ppt/notesMasters/notesMaster1.xml" Id="Re8e69cb1543046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d45393ae840c5" /><Relationship Type="http://schemas.openxmlformats.org/officeDocument/2006/relationships/notesMaster" Target="/ppt/notesMasters/notesMaster1.xml" Id="R6306712864d1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c3bf69d11a47e9" /><Relationship Type="http://schemas.openxmlformats.org/officeDocument/2006/relationships/notesMaster" Target="/ppt/notesMasters/notesMaster1.xml" Id="R67ebceefee4a4b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29472b41c4d50" /><Relationship Type="http://schemas.openxmlformats.org/officeDocument/2006/relationships/notesMaster" Target="/ppt/notesMasters/notesMaster1.xml" Id="R606b8a503cb947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014cfb3274a31" /><Relationship Type="http://schemas.openxmlformats.org/officeDocument/2006/relationships/notesMaster" Target="/ppt/notesMasters/notesMaster1.xml" Id="Rb7b098679840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REGODIT-track security questionnaire story. Persona assumes USD 47m annual revenue and a team of five; these are demonstration assumptions, not validated business facts. Source design and original images retained from user-provided Mandate User ex-2.pptx, matching Mandate User ex.pdf. Image authors and rights are not independently verified; no new author attribution is asserted. Document-supported means a cited passage supports the answer, not that Mandate has independently audited operation of the security control. User confirmations retain a distinct status from document support. PRISM/GIDE implementation or endorsement is not claimed by this story.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f582bc5724c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b5035c283405f" /><Relationship Type="http://schemas.openxmlformats.org/officeDocument/2006/relationships/slideLayout" Target="/ppt/slideLayouts/slideLayout1.xml" Id="R8e2fff1d7586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fff1d7586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72cc9387e41c8" /><Relationship Type="http://schemas.openxmlformats.org/officeDocument/2006/relationships/image" Target="/ppt/media/image.png" Id="Rcdd84baacc9946fd" /><Relationship Type="http://schemas.openxmlformats.org/officeDocument/2006/relationships/image" Target="/ppt/media/image2.png" Id="R24f022b2fa054d85" /><Relationship Type="http://schemas.openxmlformats.org/officeDocument/2006/relationships/image" Target="/ppt/media/image3.png" Id="R032653071bc44de5" /><Relationship Type="http://schemas.openxmlformats.org/officeDocument/2006/relationships/image" Target="/ppt/media/image4.png" Id="Rb2b8f4e0492040e7" /><Relationship Type="http://schemas.openxmlformats.org/officeDocument/2006/relationships/notesSlide" Target="/ppt/notesSlides/notesSlide1.xml" Id="R1589d9d930e94d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821996d7c4089" /><Relationship Type="http://schemas.openxmlformats.org/officeDocument/2006/relationships/image" Target="/ppt/media/image5.png" Id="Rab36702c0bde49dd" /><Relationship Type="http://schemas.openxmlformats.org/officeDocument/2006/relationships/notesSlide" Target="/ppt/notesSlides/notesSlide2.xml" Id="Rb64a7f9fb3a749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d0737c7e447bc" /><Relationship Type="http://schemas.openxmlformats.org/officeDocument/2006/relationships/image" Target="/ppt/media/image6.png" Id="R7209486668a84a40" /><Relationship Type="http://schemas.openxmlformats.org/officeDocument/2006/relationships/notesSlide" Target="/ppt/notesSlides/notesSlide3.xml" Id="R7c8b14e1312049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026e1d854372" /><Relationship Type="http://schemas.openxmlformats.org/officeDocument/2006/relationships/image" Target="/ppt/media/image7.png" Id="R65dc51f14c864d79" /><Relationship Type="http://schemas.openxmlformats.org/officeDocument/2006/relationships/notesSlide" Target="/ppt/notesSlides/notesSlide4.xml" Id="R4276eb7b5e4948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6b82184b8456c" /><Relationship Type="http://schemas.openxmlformats.org/officeDocument/2006/relationships/image" Target="/ppt/media/image8.png" Id="R4bc5d100996b43b8" /><Relationship Type="http://schemas.openxmlformats.org/officeDocument/2006/relationships/notesSlide" Target="/ppt/notesSlides/notesSlide5.xml" Id="R762587e25a0946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8e91b98ff489e" /><Relationship Type="http://schemas.openxmlformats.org/officeDocument/2006/relationships/image" Target="/ppt/media/image9.png" Id="Rbe60eb45b04d4f08" /><Relationship Type="http://schemas.openxmlformats.org/officeDocument/2006/relationships/notesSlide" Target="/ppt/notesSlides/notesSlide6.xml" Id="R790f7e7ed654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1cde7cdb14939" /><Relationship Type="http://schemas.openxmlformats.org/officeDocument/2006/relationships/image" Target="/ppt/media/image10.png" Id="Re6dd29397db0462c" /><Relationship Type="http://schemas.openxmlformats.org/officeDocument/2006/relationships/notesSlide" Target="/ppt/notesSlides/notesSlide7.xml" Id="R48ea545114524d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16bc61b4d4f42" /><Relationship Type="http://schemas.openxmlformats.org/officeDocument/2006/relationships/image" Target="/ppt/media/image11.png" Id="Rb00956d7ee804dbf" /><Relationship Type="http://schemas.openxmlformats.org/officeDocument/2006/relationships/notesSlide" Target="/ppt/notesSlides/notesSlide8.xml" Id="Rb18095f76afd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9AF3954-20D0-48CF-926E-CCD871F1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6D71F1-D783-4B65-8C05-3A6922CC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A SYNTHETIC STORY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639B60-5B87-4921-AF67-3AD287A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53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This is </a:t>
            </a:r>
            <a:r>
              <a:rPr sz="40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Yari</a:t>
            </a:r>
            <a:endParaRPr sz="405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73AA56-4588-4C50-8619-2326E7E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494373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 runs a growing tech retailer. This synthetic story assumes $47m in annual revenue. An enterprise partner now asks her team to complete a security questionnaire before onboarding.</a:t>
            </a:r>
            <a:endParaRPr sz="1800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C1D6AA4-1C2D-448A-93D9-8F53D3A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49720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2A9D4F7-8AE3-45B9-9580-3B48CC01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D6D86D-1642-45D5-87D0-299D518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Owner, operator, </a:t>
            </a: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with a </a:t>
            </a: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finance team of </a:t>
            </a: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150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848B2A8-7E4E-4AF5-BE82-C629195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"/>
            <a:ext cx="4171950" cy="417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0D1"/>
          </a:solidFill>
          <a:ln xmlns:a="http://schemas.openxmlformats.org/drawingml/2006/main" w="9525">
            <a:solidFill>
              <a:srgbClr val="F4E0D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84baacc9946fd"/>
          <a:stretch xmlns:a="http://schemas.openxmlformats.org/drawingml/2006/main"/>
        </p:blipFill>
        <p:spPr>
          <a:xfrm xmlns:a="http://schemas.openxmlformats.org/drawingml/2006/main">
            <a:off x="7810500" y="821531"/>
            <a:ext cx="3381375" cy="5072063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7B1515A-29C7-4D73-97A0-23F3CDA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01</a:t>
            </a:r>
          </a:p>
        </p:txBody>
      </p:sp>
      <p:pic>
        <p:nvPicPr>
          <p:cNvPr id="27" name="In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022b2fa05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3647" y="1916225"/>
            <a:ext cx="1121400" cy="1666440"/>
          </a:xfrm>
          <a:prstGeom xmlns:a="http://schemas.openxmlformats.org/drawingml/2006/main" prst="rect">
            <a:avLst/>
          </a:prstGeom>
        </p:spPr>
      </p:pic>
      <p:pic>
        <p:nvPicPr>
          <p:cNvPr id="28" name="Ink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653071bc44d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9878" y="2962158"/>
            <a:ext cx="606960" cy="421560"/>
          </a:xfrm>
          <a:prstGeom xmlns:a="http://schemas.openxmlformats.org/drawingml/2006/main" prst="rect">
            <a:avLst/>
          </a:prstGeom>
        </p:spPr>
      </p:pic>
      <p:pic>
        <p:nvPicPr>
          <p:cNvPr id="2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8f4e0492040e7"/>
          <a:srcRect xmlns:a="http://schemas.openxmlformats.org/drawingml/2006/main" l="0" t="0" r="0" b="2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3808149"/>
            <a:ext cx="3810000" cy="3090391"/>
          </a:xfrm>
          <a:prstGeom xmlns:a="http://schemas.openxmlformats.org/drawingml/2006/main" prst="rect">
            <a:avLst/>
          </a:prstGeom>
        </p:spPr>
      </p:pic>
      <p:pic>
        <p:nvPicPr>
          <p:cNvPr id="3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8f4e0492040e7"/>
          <a:srcRect xmlns:a="http://schemas.openxmlformats.org/drawingml/2006/main" l="0" t="0" r="0" b="2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8678" y="3808149"/>
            <a:ext cx="3810000" cy="3090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59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CA8A853-7272-4124-80E7-8A20D4A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44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An enterprise partner asks Yari's team for evidence of its security controls</a:t>
            </a:r>
            <a:endParaRPr sz="270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C5732A-931F-4EF7-9871-D8E83942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3962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Her team of 5 keeps the business running while the review adds work</a:t>
            </a:r>
          </a:p>
        </p:txBody>
      </p:sp>
      <p:pic>
        <p:nvPicPr>
          <p:cNvPr id="3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6702c0bde49dd"/>
          <a:stretch xmlns:a="http://schemas.openxmlformats.org/drawingml/2006/main"/>
        </p:blipFill>
        <p:spPr>
          <a:xfrm xmlns:a="http://schemas.openxmlformats.org/drawingml/2006/main">
            <a:off x="682625" y="1476375"/>
            <a:ext cx="3206750" cy="4810125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78EDCA-E280-40F1-92F8-3E927379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08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The answers live across documents and conversations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0ADD982-4003-4787-9062-A6E969C3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CA7AD0-8184-434F-8717-6746586B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1F1744-F7D6-481B-83B8-303DDCF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Questionnaire arrives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D89537-C822-43BB-8658-B0D56F16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0512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The partner asks about access, backups and incident response.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6BA555F5-187F-420D-971D-9582361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1CFCA39-92BC-4984-98D3-A8DDF74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F158334-386D-4B09-A177-A1C43BB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Evidence is scattered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871348-A087-455B-B571-A63AF444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147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Policies, procedures and past answers sit in different places.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695470D-6D9E-4572-8120-FB200403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0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FFF0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F9C16E2-E0A3-4A28-8573-E2F8E52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0644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753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7530D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1125" b="1">
              <a:solidFill>
                <a:srgbClr val="87530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0F4826-CD8F-4429-9863-26E85AF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578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Review is delayed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9911917-010E-4E33-A634-B42CC84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7816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Repeated questions and conflicting records slow the response.</a:t>
            </a:r>
            <a:endParaRPr sz="1275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C2883C3-6A9D-4CD9-B2F5-CD2F83D1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02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F9FA49D-5310-3BBF-B3BA-9AAB5E6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Missing details</a:t>
            </a:r>
            <a:endParaRPr sz="165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B70D47A-37E4-4465-838A-4D99591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Some answers still depend on Yari or the IT owner.</a:t>
            </a:r>
            <a:endParaRPr sz="1275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AC987CC-7225-789F-0A86-D0339F0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DDFAB2F-B8C5-83FA-3D31-4F560E01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053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1125" b="1">
              <a:solidFill>
                <a:srgbClr val="087061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5885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7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35EEC3-C1DB-4336-BE94-42E2E10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FFF0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4DF49A-F651-4D21-8F5F-90C3F467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753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7530D"/>
                </a:solidFill>
                <a:latin typeface="Helvetica Neue"/>
                <a:ea typeface="Helvetica Neue"/>
                <a:cs typeface="Helvetica Neue"/>
              </a:rPr>
              <a:t>THE PRESSURE BUILDS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C9F857-5F3D-4FAC-A7F8-3AF74BE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Her team knows the business. Proving every security answer still takes time.</a:t>
            </a:r>
            <a:endParaRPr sz="315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4D508C6-C426-41CD-9086-1E7E8079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Policies describe intended controls. Recent messages may reveal exceptions. Her team must resolve both.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F359A33-878D-45DF-89CE-7428690A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49"/>
            <a:ext cx="6096000" cy="1742951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7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62B99B8-037C-4679-83E0-9FF2C1A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67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672D"/>
                </a:solidFill>
                <a:latin typeface="Helvetica Neue"/>
                <a:ea typeface="Helvetica Neue"/>
                <a:cs typeface="Helvetica Neue"/>
              </a:rPr>
              <a:t>Yari's problem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5DDABE3-6414-4F0B-8E6D-F071466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5476875" cy="984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Yari needs evidence she can inspect, with missing details clearly flagged. She wants to support her current team of 5.</a:t>
            </a:r>
            <a:endParaRPr sz="1725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1C9251C-49FD-470E-AD19-375878BD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62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FFF0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9486668a84a40"/>
          <a:stretch xmlns:a="http://schemas.openxmlformats.org/drawingml/2006/main"/>
        </p:blipFill>
        <p:spPr>
          <a:xfrm xmlns:a="http://schemas.openxmlformats.org/drawingml/2006/main">
            <a:off x="7350125" y="409575"/>
            <a:ext cx="3968750" cy="5953125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548E17B-651F-41CB-BD62-5C5F71C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03</a:t>
            </a:r>
          </a:p>
        </p:txBody>
      </p:sp>
    </p:spTree>
    <p:extLst>
      <p:ext uri="{BB962C8B-B14F-4D97-AF65-F5344CB8AC3E}">
        <p14:creationId xmlns:p14="http://schemas.microsoft.com/office/powerpoint/2010/main" val="159744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c51f14c864d79"/>
          <a:stretch xmlns:a="http://schemas.openxmlformats.org/drawingml/2006/main"/>
        </p:blipFill>
        <p:spPr>
          <a:xfrm xmlns:a="http://schemas.openxmlformats.org/drawingml/2006/main">
            <a:off x="628650" y="112395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C7431D4-FE48-4AA1-A30B-8D3BB8B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6675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8F"/>
          </a:solidFill>
          <a:ln xmlns:a="http://schemas.openxmlformats.org/drawingml/2006/main" w="9525">
            <a:solidFill>
              <a:srgbClr val="00A98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86A490-99F5-4CA8-87F2-68696D6C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95325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MANDATE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5980136-503A-49DB-B05C-081A3D8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1920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MANDATE becomes Yari's AI security analyst</a:t>
            </a:r>
            <a:endParaRPr sz="3150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23F0E4-8C6C-40B6-8981-6C83B5D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6381750" cy="1365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Mandate searches approved sources first, drafts answers with citations, and asks focused follow-up questions only when information is missing or contradictory.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5756810-C214-45EB-A2FC-BA19F651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499"/>
            <a:ext cx="6438900" cy="1545277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A6E331-645C-4C61-A3CE-3BBDFBEB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The division of work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953081C-0414-4B23-8FB9-1E4ACF85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5810250" cy="70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AI gathers the evidence. Yari's team reviews and authorizes every final answer.</a:t>
            </a:r>
            <a:endParaRPr sz="1875" b="1">
              <a:solidFill>
                <a:srgbClr val="17292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A853441-716E-4A42-92E1-E174F3E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04</a:t>
            </a:r>
          </a:p>
        </p:txBody>
      </p:sp>
    </p:spTree>
    <p:extLst>
      <p:ext uri="{BB962C8B-B14F-4D97-AF65-F5344CB8AC3E}">
        <p14:creationId xmlns:p14="http://schemas.microsoft.com/office/powerpoint/2010/main" val="192820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208426E-6990-490D-A69A-B26E8347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A short conversation fills a real evidence gap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AF7455-4D74-4402-B1A2-0CE77E28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Mandate checks the documents before asking Yari for a missing detail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7CE9E25-A5B9-49E7-92A3-C321BF10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8580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8002708-53E6-486F-BEEB-5173583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ADE3D7-592B-4385-9026-F85582C2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64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USER INPUT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D64A109-8B05-415E-ACFE-0E67ABF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Backups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E97A65-01EC-4FDD-85D9-506BF76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User-confirmed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D882FFD-6857-4BE6-BCE4-C3F985CD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8E4CBC-E232-4B00-B967-F05276E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8C5194-A04C-4794-A8F6-3EF6B54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Backups in place? Yari answers yes.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23BA7FC-437E-4222-8CD2-5DF66C24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77EBD51-C32C-45F4-8122-B5F55E56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909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0293817-C431-40E1-9DE6-80FBAA1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How often? Yari confirms daily.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7E06C5EE-036E-423D-A70E-A138C8F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3D32502-4917-465E-AF87-1BC015C5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83EB895-363D-4283-8823-A045D89C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Automated? Yari confirms yes.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8497BA06-1A1B-439E-A295-A1054F4A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44E7675-5787-4236-ACA6-309CD1D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67275"/>
            <a:ext cx="26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6D32C4C-08AB-460C-92D0-A9826937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Saved with owner and time. Evidence pending.</a:t>
            </a:r>
          </a:p>
        </p:txBody>
      </p:sp>
      <p:pic>
        <p:nvPicPr>
          <p:cNvPr id="43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5d100996b43b8"/>
          <a:stretch xmlns:a="http://schemas.openxmlformats.org/drawingml/2006/main"/>
        </p:blipFill>
        <p:spPr>
          <a:xfrm xmlns:a="http://schemas.openxmlformats.org/drawingml/2006/main">
            <a:off x="8172450" y="1476375"/>
            <a:ext cx="3048000" cy="4572000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A138C69-AA1B-47B5-90B1-1B05987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05</a:t>
            </a:r>
          </a:p>
        </p:txBody>
      </p:sp>
    </p:spTree>
    <p:extLst>
      <p:ext uri="{BB962C8B-B14F-4D97-AF65-F5344CB8AC3E}">
        <p14:creationId xmlns:p14="http://schemas.microsoft.com/office/powerpoint/2010/main" val="549212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6EB8D63-7198-4604-A9F4-8CC262E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Two sources disagree about MFA coverage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53E3CE-74B9-48AB-8E82-14BF9BB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Mandate keeps the answer unresolved until the owner checks the exception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2CF5DCB-CB5E-471B-9A1D-A2587D3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3342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C9C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6BED5A2-F2B5-483C-B86F-868EDA3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FCE7E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F3023E-9D22-4218-8DBA-050CE648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D65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65454"/>
                </a:solidFill>
                <a:latin typeface="Helvetica Neue"/>
                <a:ea typeface="Helvetica Neue"/>
                <a:cs typeface="Helvetica Neue"/>
              </a:rPr>
              <a:t>CONFLICT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D011FEC-D621-491C-B9C4-D8500C6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Review before answering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B8CEF5-7D66-4B6E-95D0-4E344DF6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Is MFA required for all users?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531549A-5C1D-494A-8123-908AEFD4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3262"/>
            <a:ext cx="6191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rPr>
              <a:t>The policy says MFA covers every user.</a:t>
            </a:r>
            <a:endParaRPr sz="1500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rPr>
              <a:t>IT reports a contractor exception.</a:t>
            </a:r>
            <a:endParaRPr sz="1500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500" b="0">
              <a:solidFill>
                <a:srgbClr val="617277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buNone/>
              <a:def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637981"/>
                </a:solidFill>
                <a:latin typeface="Helvetica Neue"/>
                <a:ea typeface="Helvetica Neue"/>
                <a:cs typeface="Helvetica Neue"/>
              </a:rPr>
              <a:t>The scope remains unresolved.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E2251EC-6C12-4277-A870-94212BA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6153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7E4"/>
          </a:solidFill>
          <a:ln xmlns:a="http://schemas.openxmlformats.org/drawingml/2006/main" w="9525">
            <a:solidFill>
              <a:srgbClr val="FCE7E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999BADA-A97D-4597-8507-0A1ED471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719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3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Security policy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947778-3804-4E76-8BDE-9CA83C1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1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All users covered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26E6A8-FC67-4CEB-B2CE-5A93BE0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71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3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65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5454"/>
                </a:solidFill>
                <a:latin typeface="Helvetica Neue"/>
                <a:ea typeface="Helvetica Neue"/>
                <a:cs typeface="Helvetica Neue"/>
              </a:rPr>
              <a:t>IT message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E00A0FE-3FB2-48C1-9CC4-7C77741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48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9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Exception reported</a:t>
            </a:r>
          </a:p>
        </p:txBody>
      </p:sp>
      <p:pic>
        <p:nvPicPr>
          <p:cNvPr id="3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0eb45b04d4f08"/>
          <a:stretch xmlns:a="http://schemas.openxmlformats.org/drawingml/2006/main"/>
        </p:blipFill>
        <p:spPr>
          <a:xfrm xmlns:a="http://schemas.openxmlformats.org/drawingml/2006/main">
            <a:off x="8572500" y="1724025"/>
            <a:ext cx="2762250" cy="4143375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28076B0-22F3-4B7D-813B-30552351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06</a:t>
            </a:r>
          </a:p>
        </p:txBody>
      </p:sp>
    </p:spTree>
    <p:extLst>
      <p:ext uri="{BB962C8B-B14F-4D97-AF65-F5344CB8AC3E}">
        <p14:creationId xmlns:p14="http://schemas.microsoft.com/office/powerpoint/2010/main" val="870113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d29397db0462c"/>
          <a:stretch xmlns:a="http://schemas.openxmlformats.org/drawingml/2006/main"/>
        </p:blipFill>
        <p:spPr>
          <a:xfrm xmlns:a="http://schemas.openxmlformats.org/drawingml/2006/main">
            <a:off x="609600" y="1212056"/>
            <a:ext cx="3381375" cy="507206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F014FA-2D22-4542-946C-974CA29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0075"/>
            <a:ext cx="70675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Yari's team reviews the answer and its evidence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3E5D61-4283-4C91-882B-FBAE5DE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24025"/>
            <a:ext cx="657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Every draft keeps its status. Contradictions stay open until a responsible owner resolves them.</a:t>
            </a: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A1E72CB-B585-49D7-A91A-BCB3DB0C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47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9525">
            <a:solidFill>
              <a:srgbClr val="00A98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9A2F29-4D40-4C43-A474-8573E3F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67025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E49F478-0C0C-496D-89C1-607BA2B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6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Verified from documents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4A4B84-A962-4C76-A15F-C803EEC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527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Linked to a specific document and passage.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7838059-5626-47D6-9087-BF012A3F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9525">
            <a:solidFill>
              <a:srgbClr val="00A98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D6BCC89-3143-413D-BE36-ACC15E47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10B662C-4A36-4920-8955-9BAC418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528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6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User-confirmed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BC850D-7100-4942-864F-1DDCBF1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76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Recorded with the owner's name and time.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5DD22EF-B009-40CC-AC6C-3760BE8D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8F"/>
          </a:solidFill>
          <a:ln xmlns:a="http://schemas.openxmlformats.org/drawingml/2006/main" w="9525">
            <a:solidFill>
              <a:srgbClr val="00A98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292EE23-3C7C-4904-BEA8-C3DD6FAF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14875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D79EA8A-D4D5-4129-BDB2-3E1646A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767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6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92E"/>
                </a:solidFill>
                <a:latin typeface="Helvetica Neue"/>
                <a:ea typeface="Helvetica Neue"/>
                <a:cs typeface="Helvetica Neue"/>
              </a:rPr>
              <a:t>Unknown or disputed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8E4F93D-FCB8-4EE5-BA37-A174483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 chooses what can be submitted.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24E5C01-D676-4D65-BE46-002D026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17277"/>
                </a:solidFill>
                <a:latin typeface="Helvetica Neue"/>
                <a:ea typeface="Helvetica Neue"/>
                <a:cs typeface="Helvetica Neue"/>
              </a:rPr>
              <a:t>YARI'S STORY  07</a:t>
            </a:r>
          </a:p>
        </p:txBody>
      </p:sp>
    </p:spTree>
    <p:extLst>
      <p:ext uri="{BB962C8B-B14F-4D97-AF65-F5344CB8AC3E}">
        <p14:creationId xmlns:p14="http://schemas.microsoft.com/office/powerpoint/2010/main" val="1779860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B5BDA63-4FBC-4B2C-ADA8-0F01938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DDF4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3AAB6F-1E63-48E5-A20F-08317E9E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"/>
            <a:ext cx="1228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87061"/>
                </a:solidFill>
                <a:latin typeface="Helvetica Neue"/>
                <a:ea typeface="Helvetica Neue"/>
                <a:cs typeface="Helvetica Neue"/>
              </a:rPr>
              <a:t>THE OUTCOME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2E301F-3253-4E29-97B5-77584A0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719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Yari keeps her team and owns the final security response</a:t>
            </a:r>
            <a:endParaRPr sz="33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91BB43-54A4-4B97-9512-8B73E16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7DC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7DCD6"/>
                </a:solidFill>
                <a:latin typeface="Helvetica Neue"/>
                <a:ea typeface="Helvetica Neue"/>
                <a:cs typeface="Helvetica Neue"/>
              </a:rPr>
              <a:t>Mandate reduces repeated evidence collection and preserves the review trail. The pilot measures review time, citation coverage and unresolved answers. It makes no headcount or savings promise.</a:t>
            </a:r>
            <a:endParaRPr sz="1650" b="0">
              <a:solidFill>
                <a:srgbClr val="C7DCD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FDB10D-18CC-4DEE-8A92-0A4812DD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62388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E39"/>
          </a:solidFill>
          <a:ln xmlns:a="http://schemas.openxmlformats.org/drawingml/2006/main" w="9525">
            <a:solidFill>
              <a:srgbClr val="3B62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688D7F-34C1-4BFC-B01E-E164FC6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0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9D8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9D8C6"/>
                </a:solidFill>
                <a:latin typeface="Helvetica Neue"/>
                <a:ea typeface="Helvetica Neue"/>
                <a:cs typeface="Helvetica Neue"/>
              </a:rPr>
              <a:t>Human in the loop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45071C2-BEB7-4544-AB2A-E714AAEC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91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Yari's team approves the response before export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56DB6AE8-507D-4857-B8B7-BCD7120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"/>
            <a:ext cx="3733800" cy="3733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E39"/>
          </a:solidFill>
          <a:ln xmlns:a="http://schemas.openxmlformats.org/drawingml/2006/main" w="9525">
            <a:solidFill>
              <a:srgbClr val="173E3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956d7ee804dbf"/>
          <a:stretch xmlns:a="http://schemas.openxmlformats.org/drawingml/2006/main"/>
        </p:blipFill>
        <p:spPr>
          <a:xfrm xmlns:a="http://schemas.openxmlformats.org/drawingml/2006/main">
            <a:off x="8020050" y="909638"/>
            <a:ext cx="3333750" cy="5000625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DA3458D-83DD-47CE-AC70-642671BE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9D2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9D2CC"/>
                </a:solidFill>
                <a:latin typeface="Helvetica Neue"/>
                <a:ea typeface="Helvetica Neue"/>
                <a:cs typeface="Helvetica Neue"/>
              </a:rPr>
              <a:t>YARI'S STORY  08</a:t>
            </a:r>
          </a:p>
        </p:txBody>
      </p:sp>
    </p:spTree>
    <p:extLst>
      <p:ext uri="{BB962C8B-B14F-4D97-AF65-F5344CB8AC3E}">
        <p14:creationId xmlns:p14="http://schemas.microsoft.com/office/powerpoint/2010/main" val="310188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2026-09-05T13:45:14.3440000Z</dcterms:created>
  <dcterms:modified xsi:type="dcterms:W3CDTF">2026-09-05T13:45:14.3440000Z</dcterms:modified>
</coreProperties>
</file>